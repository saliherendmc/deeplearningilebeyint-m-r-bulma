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handoutMasterIdLst>
    <p:handoutMasterId r:id="rId21"/>
  </p:handoutMasterIdLst>
  <p:sldIdLst>
    <p:sldId id="257" r:id="rId5"/>
    <p:sldId id="268" r:id="rId6"/>
    <p:sldId id="269" r:id="rId7"/>
    <p:sldId id="267" r:id="rId8"/>
    <p:sldId id="270" r:id="rId9"/>
    <p:sldId id="259" r:id="rId10"/>
    <p:sldId id="261" r:id="rId11"/>
    <p:sldId id="262" r:id="rId12"/>
    <p:sldId id="263" r:id="rId13"/>
    <p:sldId id="271" r:id="rId14"/>
    <p:sldId id="265" r:id="rId15"/>
    <p:sldId id="272" r:id="rId16"/>
    <p:sldId id="273" r:id="rId17"/>
    <p:sldId id="274" r:id="rId18"/>
    <p:sldId id="275" r:id="rId19"/>
  </p:sldIdLst>
  <p:sldSz cx="12188825" cy="6858000"/>
  <p:notesSz cx="6858000" cy="9144000"/>
  <p:defaultTextStyle>
    <a:defPPr rtl="0">
      <a:defRPr lang="tr-t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F9AD42-52B5-4F03-8DCC-4A8794E41500}" v="38" dt="2025-12-15T13:49:26.7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12:47:46.5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Asıl metin stillerini düzenlemek için tıklayın</a:t>
            </a:r>
          </a:p>
          <a:p>
            <a:pPr lvl="1" rtl="0"/>
            <a:r>
              <a:t>İkinci düzey</a:t>
            </a:r>
          </a:p>
          <a:p>
            <a:pPr lvl="2" rtl="0"/>
            <a:r>
              <a:t>Üçüncü düzey</a:t>
            </a:r>
          </a:p>
          <a:p>
            <a:pPr lvl="3" rtl="0"/>
            <a:r>
              <a:t>Dördüncü düzey</a:t>
            </a:r>
          </a:p>
          <a:p>
            <a:pPr lvl="4" rtl="0"/>
            <a:r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EBA5BD7-F043-4D1B-AA17-CD412FC534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köşegenler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Düz Bağlayıcı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Düz Bağlayıcı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Düz Bağlayıcı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alt çizgiler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Serbest Biçi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0" name="Serbest 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1" name="Serbest Biçi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</p:grpSp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tr-TR"/>
              <a:t>Asıl alt başlık stilini düzenlemek için tıklayın</a:t>
            </a:r>
            <a:endParaRPr/>
          </a:p>
        </p:txBody>
      </p:sp>
      <p:sp>
        <p:nvSpPr>
          <p:cNvPr id="22" name="Tarih Yer Tutucusu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23" name="Alt Bilgi Yer Tutucusu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24" name="Slayt Numarası Yer Tutucusu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köşegenler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Düz Bağlayıcı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Düz Bağlayıcı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Düz Bağlayıcı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tr-TR"/>
              <a:t>Asıl metin stillerini düzenlemek için tıklayın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/>
          </a:p>
        </p:txBody>
      </p:sp>
      <p:sp>
        <p:nvSpPr>
          <p:cNvPr id="7" name="Tarih Yer Tutucusu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8" name="Alt Bilgi Yer Tutucusu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</p:txBody>
      </p:sp>
      <p:sp>
        <p:nvSpPr>
          <p:cNvPr id="3" name="Resim Yer Tutucusu 2" descr="Resim eklemek için boş yer tutucu. Yer tutucuya tıklayın ve eklemek istediğiniz resmi seçin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tr-TR"/>
              <a:t>Resim eklemek için simgeye tıklayın</a:t>
            </a:r>
            <a:endParaRPr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tr-TR"/>
              <a:t>Asıl başlık stilini düzenlemek için tıklayın</a:t>
            </a:r>
            <a:endParaRPr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tr-TR"/>
              <a:t>Asıl metin stillerini düzenlemek için tıklayın</a:t>
            </a:r>
          </a:p>
          <a:p>
            <a:pPr lvl="1" rtl="0"/>
            <a:r>
              <a:rPr lang="tr-TR"/>
              <a:t>İkinci düzey</a:t>
            </a:r>
          </a:p>
          <a:p>
            <a:pPr lvl="2" rtl="0"/>
            <a:r>
              <a:rPr lang="tr-TR"/>
              <a:t>Üçüncü düzey</a:t>
            </a:r>
          </a:p>
          <a:p>
            <a:pPr lvl="3" rtl="0"/>
            <a:r>
              <a:rPr lang="tr-TR"/>
              <a:t>Dördüncü düzey</a:t>
            </a:r>
          </a:p>
          <a:p>
            <a:pPr lvl="4" rtl="0"/>
            <a:r>
              <a:rPr lang="tr-TR"/>
              <a:t>Beşinci düzey</a:t>
            </a:r>
            <a:endParaRPr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sol çizgiler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Serbest Biçi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1" name="Serbest Biçi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4" name="Serbest Biçi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</p:grpSp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tr"/>
              <a:t>Asıl başlık stili için tıklatın</a:t>
            </a:r>
            <a:endParaRPr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tr"/>
              <a:t>Asıl metin stillerini düzenle</a:t>
            </a:r>
          </a:p>
          <a:p>
            <a:pPr lvl="1" rtl="0"/>
            <a:r>
              <a:rPr lang="tr"/>
              <a:t>İkinci düzey</a:t>
            </a:r>
          </a:p>
          <a:p>
            <a:pPr lvl="2" rtl="0"/>
            <a:r>
              <a:rPr lang="tr"/>
              <a:t>Üçüncü düzey</a:t>
            </a:r>
          </a:p>
          <a:p>
            <a:pPr lvl="3" rtl="0"/>
            <a:r>
              <a:rPr lang="tr"/>
              <a:t>Dördüncü düzey</a:t>
            </a:r>
          </a:p>
          <a:p>
            <a:pPr lvl="4" rtl="0"/>
            <a:r>
              <a:rPr lang="tr"/>
              <a:t>Beşinci düzey</a:t>
            </a:r>
            <a:endParaRPr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01.08.2016</a:t>
            </a:r>
            <a:endParaRPr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057808" y="1052736"/>
            <a:ext cx="8735325" cy="2057152"/>
          </a:xfrm>
        </p:spPr>
        <p:txBody>
          <a:bodyPr rtlCol="0">
            <a:normAutofit fontScale="90000"/>
          </a:bodyPr>
          <a:lstStyle/>
          <a:p>
            <a:r>
              <a:rPr lang="tr-TR" sz="3100" dirty="0">
                <a:solidFill>
                  <a:schemeClr val="tx1">
                    <a:lumMod val="75000"/>
                  </a:schemeClr>
                </a:solidFill>
              </a:rPr>
              <a:t>Derin Öğrenme Yöntemleri Kullanılarak Beyin Tümörü MR </a:t>
            </a:r>
            <a:br>
              <a:rPr lang="tr-TR" sz="3100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tr-TR" sz="3100" dirty="0">
                <a:solidFill>
                  <a:schemeClr val="tx1">
                    <a:lumMod val="75000"/>
                  </a:schemeClr>
                </a:solidFill>
              </a:rPr>
              <a:t> Görüntülerinin Analizi ve Sınıflandırılması</a:t>
            </a:r>
            <a:br>
              <a:rPr lang="tr" dirty="0"/>
            </a:br>
            <a:endParaRPr lang="tr" dirty="0"/>
          </a:p>
        </p:txBody>
      </p:sp>
      <p:sp>
        <p:nvSpPr>
          <p:cNvPr id="4" name="Alt Başlık 3">
            <a:extLst>
              <a:ext uri="{FF2B5EF4-FFF2-40B4-BE49-F238E27FC236}">
                <a16:creationId xmlns:a16="http://schemas.microsoft.com/office/drawing/2014/main" id="{F4C6975C-A044-6543-8F43-29AC09A94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7868" y="3748113"/>
            <a:ext cx="8735325" cy="1731888"/>
          </a:xfrm>
        </p:spPr>
        <p:txBody>
          <a:bodyPr>
            <a:normAutofit/>
          </a:bodyPr>
          <a:lstStyle/>
          <a:p>
            <a:r>
              <a:rPr lang="tr-TR" sz="2000" dirty="0"/>
              <a:t>Dersi veren öğretim </a:t>
            </a:r>
            <a:r>
              <a:rPr lang="tr-TR" sz="2000" dirty="0" err="1"/>
              <a:t>üyesi:Prof</a:t>
            </a:r>
            <a:r>
              <a:rPr lang="tr-TR" sz="2000" dirty="0"/>
              <a:t>. </a:t>
            </a:r>
            <a:r>
              <a:rPr lang="tr-TR" sz="2000" dirty="0" err="1"/>
              <a:t>dr.</a:t>
            </a:r>
            <a:r>
              <a:rPr lang="tr-TR" sz="2000" dirty="0"/>
              <a:t> </a:t>
            </a:r>
            <a:r>
              <a:rPr lang="tr-TR" sz="2000" dirty="0" err="1"/>
              <a:t>köksal</a:t>
            </a:r>
            <a:r>
              <a:rPr lang="tr-TR" sz="2000" dirty="0"/>
              <a:t> </a:t>
            </a:r>
            <a:r>
              <a:rPr lang="tr-TR" sz="2000" dirty="0" err="1"/>
              <a:t>erentürk</a:t>
            </a:r>
            <a:endParaRPr lang="tr-TR" sz="2000" dirty="0"/>
          </a:p>
          <a:p>
            <a:endParaRPr lang="tr-TR" sz="2000" dirty="0"/>
          </a:p>
          <a:p>
            <a:r>
              <a:rPr lang="tr-TR" sz="2000" dirty="0"/>
              <a:t>PROJEYİ YAPANLAR: BUĞRA EMİR ERBAKAN(230757009)</a:t>
            </a:r>
          </a:p>
          <a:p>
            <a:r>
              <a:rPr lang="tr-TR" sz="2000" dirty="0"/>
              <a:t>                               Muhammet özeler (230757025)</a:t>
            </a:r>
          </a:p>
          <a:p>
            <a:r>
              <a:rPr lang="tr-TR" sz="2000" dirty="0"/>
              <a:t>                               </a:t>
            </a:r>
            <a:r>
              <a:rPr lang="tr-TR" sz="2000" dirty="0" err="1"/>
              <a:t>salih</a:t>
            </a:r>
            <a:r>
              <a:rPr lang="tr-TR" sz="2000" dirty="0"/>
              <a:t> eren </a:t>
            </a:r>
            <a:r>
              <a:rPr lang="tr-TR" sz="2000" dirty="0" err="1"/>
              <a:t>damacı</a:t>
            </a:r>
            <a:r>
              <a:rPr lang="tr-TR" sz="2000" dirty="0"/>
              <a:t> (230757015)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0E77D15D-3645-E58C-1E77-C67BE2DE7F2B}"/>
              </a:ext>
            </a:extLst>
          </p:cNvPr>
          <p:cNvSpPr txBox="1"/>
          <p:nvPr/>
        </p:nvSpPr>
        <p:spPr>
          <a:xfrm>
            <a:off x="1053852" y="600175"/>
            <a:ext cx="38884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400" dirty="0">
                <a:solidFill>
                  <a:schemeClr val="tx1">
                    <a:lumMod val="75000"/>
                  </a:schemeClr>
                </a:solidFill>
              </a:rPr>
              <a:t>DEEP LEARNİNG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aşlık 12"/>
          <p:cNvSpPr>
            <a:spLocks noGrp="1"/>
          </p:cNvSpPr>
          <p:nvPr>
            <p:ph type="title"/>
          </p:nvPr>
        </p:nvSpPr>
        <p:spPr>
          <a:xfrm>
            <a:off x="914161" y="261969"/>
            <a:ext cx="10360501" cy="863923"/>
          </a:xfrm>
        </p:spPr>
        <p:txBody>
          <a:bodyPr rtlCol="0"/>
          <a:lstStyle/>
          <a:p>
            <a:pPr rtl="0"/>
            <a:r>
              <a:rPr lang="tr-TR" dirty="0">
                <a:solidFill>
                  <a:schemeClr val="tx1">
                    <a:lumMod val="75000"/>
                  </a:schemeClr>
                </a:solidFill>
              </a:rPr>
              <a:t>Projenin Amacı</a:t>
            </a:r>
            <a:endParaRPr 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77AF972-1375-F9A2-154E-D97F5BB25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852" y="1268760"/>
            <a:ext cx="10360501" cy="5256584"/>
          </a:xfrm>
        </p:spPr>
        <p:txBody>
          <a:bodyPr>
            <a:normAutofit fontScale="92500" lnSpcReduction="10000"/>
          </a:bodyPr>
          <a:lstStyle/>
          <a:p>
            <a:r>
              <a:rPr lang="tr-TR" dirty="0">
                <a:solidFill>
                  <a:schemeClr val="tx1">
                    <a:lumMod val="95000"/>
                  </a:schemeClr>
                </a:solidFill>
              </a:rPr>
              <a:t>Bu projenin temel amacı, </a:t>
            </a:r>
            <a:r>
              <a:rPr lang="tr-TR" b="1" dirty="0">
                <a:solidFill>
                  <a:schemeClr val="tx1">
                    <a:lumMod val="95000"/>
                  </a:schemeClr>
                </a:solidFill>
              </a:rPr>
              <a:t>beyin tümörü manyetik rezonans (MR) görüntülerinin</a:t>
            </a:r>
            <a:r>
              <a:rPr lang="tr-TR" dirty="0">
                <a:solidFill>
                  <a:schemeClr val="tx1">
                    <a:lumMod val="95000"/>
                  </a:schemeClr>
                </a:solidFill>
              </a:rPr>
              <a:t> derin öğrenme yöntemleri kullanılarak </a:t>
            </a:r>
            <a:r>
              <a:rPr lang="tr-TR" b="1" dirty="0">
                <a:solidFill>
                  <a:schemeClr val="tx1">
                    <a:lumMod val="95000"/>
                  </a:schemeClr>
                </a:solidFill>
              </a:rPr>
              <a:t>otomatik olarak sınıflandırılmasıdır</a:t>
            </a:r>
            <a:r>
              <a:rPr lang="tr-TR" dirty="0">
                <a:solidFill>
                  <a:schemeClr val="tx1">
                    <a:lumMod val="95000"/>
                  </a:schemeClr>
                </a:solidFill>
              </a:rPr>
              <a:t>. Bu kapsamda, güçlü bir </a:t>
            </a:r>
            <a:r>
              <a:rPr lang="tr-TR" dirty="0" err="1">
                <a:solidFill>
                  <a:schemeClr val="tx1">
                    <a:lumMod val="95000"/>
                  </a:schemeClr>
                </a:solidFill>
              </a:rPr>
              <a:t>evrişimsel</a:t>
            </a:r>
            <a:r>
              <a:rPr lang="tr-TR" dirty="0">
                <a:solidFill>
                  <a:schemeClr val="tx1">
                    <a:lumMod val="95000"/>
                  </a:schemeClr>
                </a:solidFill>
              </a:rPr>
              <a:t> sinir ağı (</a:t>
            </a:r>
            <a:r>
              <a:rPr lang="tr-TR" dirty="0" err="1">
                <a:solidFill>
                  <a:schemeClr val="tx1">
                    <a:lumMod val="95000"/>
                  </a:schemeClr>
                </a:solidFill>
              </a:rPr>
              <a:t>Convolutional</a:t>
            </a:r>
            <a:r>
              <a:rPr lang="tr-TR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tr-TR" dirty="0" err="1">
                <a:solidFill>
                  <a:schemeClr val="tx1">
                    <a:lumMod val="95000"/>
                  </a:schemeClr>
                </a:solidFill>
              </a:rPr>
              <a:t>Neural</a:t>
            </a:r>
            <a:r>
              <a:rPr lang="tr-TR" dirty="0">
                <a:solidFill>
                  <a:schemeClr val="tx1">
                    <a:lumMod val="95000"/>
                  </a:schemeClr>
                </a:solidFill>
              </a:rPr>
              <a:t> Network – CNN) mimarisi olan </a:t>
            </a:r>
            <a:r>
              <a:rPr lang="tr-TR" b="1" dirty="0">
                <a:solidFill>
                  <a:schemeClr val="tx1">
                    <a:lumMod val="95000"/>
                  </a:schemeClr>
                </a:solidFill>
              </a:rPr>
              <a:t>ResNet-50</a:t>
            </a:r>
            <a:r>
              <a:rPr lang="tr-TR" dirty="0">
                <a:solidFill>
                  <a:schemeClr val="tx1">
                    <a:lumMod val="95000"/>
                  </a:schemeClr>
                </a:solidFill>
              </a:rPr>
              <a:t> kullanılarak, farklı beyin tümörü türlerinin ve sağlıklı beyin görüntülerinin yüksek doğrulukla ayırt edilmesi hedeflenmiştir.</a:t>
            </a:r>
          </a:p>
          <a:p>
            <a:r>
              <a:rPr lang="tr-TR" dirty="0">
                <a:solidFill>
                  <a:schemeClr val="tx1">
                    <a:lumMod val="95000"/>
                  </a:schemeClr>
                </a:solidFill>
              </a:rPr>
              <a:t>Proje ile birlikte;</a:t>
            </a:r>
          </a:p>
          <a:p>
            <a:r>
              <a:rPr lang="tr-TR" dirty="0">
                <a:solidFill>
                  <a:schemeClr val="tx1">
                    <a:lumMod val="95000"/>
                  </a:schemeClr>
                </a:solidFill>
              </a:rPr>
              <a:t>Manuel ve zaman alıcı tanı süreçlerinin desteklenmesi,</a:t>
            </a:r>
          </a:p>
          <a:p>
            <a:r>
              <a:rPr lang="tr-TR" dirty="0">
                <a:solidFill>
                  <a:schemeClr val="tx1">
                    <a:lumMod val="95000"/>
                  </a:schemeClr>
                </a:solidFill>
              </a:rPr>
              <a:t>İnsan kaynaklı hata payının azaltılması,</a:t>
            </a:r>
          </a:p>
          <a:p>
            <a:r>
              <a:rPr lang="tr-TR" dirty="0">
                <a:solidFill>
                  <a:schemeClr val="tx1">
                    <a:lumMod val="95000"/>
                  </a:schemeClr>
                </a:solidFill>
              </a:rPr>
              <a:t>Radyologlara ve sağlık profesyonellerine </a:t>
            </a:r>
            <a:r>
              <a:rPr lang="tr-TR" b="1" dirty="0">
                <a:solidFill>
                  <a:schemeClr val="tx1">
                    <a:lumMod val="95000"/>
                  </a:schemeClr>
                </a:solidFill>
              </a:rPr>
              <a:t>karar destek sistemi</a:t>
            </a:r>
            <a:r>
              <a:rPr lang="tr-TR" dirty="0">
                <a:solidFill>
                  <a:schemeClr val="tx1">
                    <a:lumMod val="95000"/>
                  </a:schemeClr>
                </a:solidFill>
              </a:rPr>
              <a:t> sunulması,</a:t>
            </a:r>
          </a:p>
          <a:p>
            <a:r>
              <a:rPr lang="tr-TR" dirty="0">
                <a:solidFill>
                  <a:schemeClr val="tx1">
                    <a:lumMod val="95000"/>
                  </a:schemeClr>
                </a:solidFill>
              </a:rPr>
              <a:t>Tıbbi görüntü analizinde yapay zekâ kullanımının etkinliğinin gösterilmesi</a:t>
            </a:r>
          </a:p>
          <a:p>
            <a:r>
              <a:rPr lang="tr-TR" dirty="0">
                <a:solidFill>
                  <a:schemeClr val="tx1">
                    <a:lumMod val="95000"/>
                  </a:schemeClr>
                </a:solidFill>
              </a:rPr>
              <a:t>amaçlanmıştır.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092088" y="476672"/>
            <a:ext cx="6459705" cy="935931"/>
          </a:xfrm>
        </p:spPr>
        <p:txBody>
          <a:bodyPr rtlCol="0"/>
          <a:lstStyle/>
          <a:p>
            <a:pPr rtl="0"/>
            <a:r>
              <a:rPr lang="tr" dirty="0">
                <a:solidFill>
                  <a:schemeClr val="tx1">
                    <a:lumMod val="65000"/>
                  </a:schemeClr>
                </a:solidFill>
              </a:rPr>
              <a:t>Projenin Genel İşleyişi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09AEE77-5CF0-640D-63C4-30C52509644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25860" y="1720840"/>
            <a:ext cx="835292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Beyin MR görüntülerinden oluşan veri seti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–test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olarak ayrıldı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Görüntüler modele uygun hale getirildi ve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ön işleme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uygulandı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ResNet-50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tabanlı transfer öğrenme modeli yapılandırıldı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eğitim verileriyle eğitildi,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verisiyle takip edildi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verisiyle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nihai performans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ölçüldü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Sonuçlar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matrix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gibi metriklerle değerlendirildi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şlık 6"/>
          <p:cNvSpPr>
            <a:spLocks noGrp="1"/>
          </p:cNvSpPr>
          <p:nvPr>
            <p:ph type="title"/>
          </p:nvPr>
        </p:nvSpPr>
        <p:spPr>
          <a:xfrm>
            <a:off x="1218883" y="30020"/>
            <a:ext cx="7253922" cy="864096"/>
          </a:xfrm>
        </p:spPr>
        <p:txBody>
          <a:bodyPr rtlCol="0"/>
          <a:lstStyle/>
          <a:p>
            <a:pPr rtl="0"/>
            <a:r>
              <a:rPr lang="tr" dirty="0">
                <a:solidFill>
                  <a:schemeClr val="tx1">
                    <a:lumMod val="65000"/>
                  </a:schemeClr>
                </a:solidFill>
              </a:rPr>
              <a:t>Proje Veriseti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5ABBEB9D-40BF-42F5-B23B-F552F2ACA9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347" y="1095420"/>
            <a:ext cx="3816424" cy="3672408"/>
          </a:xfr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C5FA7AC6-E474-9EE3-B153-36DBE40C3548}"/>
              </a:ext>
            </a:extLst>
          </p:cNvPr>
          <p:cNvSpPr txBox="1"/>
          <p:nvPr/>
        </p:nvSpPr>
        <p:spPr>
          <a:xfrm>
            <a:off x="5518348" y="982176"/>
            <a:ext cx="61068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dirty="0"/>
              <a:t>Veri seti toplam </a:t>
            </a:r>
            <a:r>
              <a:rPr lang="tr-TR" b="1" dirty="0"/>
              <a:t>4 farklı sınıf</a:t>
            </a:r>
            <a:r>
              <a:rPr lang="tr-TR" dirty="0"/>
              <a:t> içermektedir: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Glioma:</a:t>
            </a:r>
            <a:r>
              <a:rPr lang="tr-TR" dirty="0"/>
              <a:t> En yaygın ve agresif beyin tümörü türlerinden biri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err="1"/>
              <a:t>Meningioma</a:t>
            </a:r>
            <a:r>
              <a:rPr lang="tr-TR" b="1" dirty="0"/>
              <a:t>:</a:t>
            </a:r>
            <a:r>
              <a:rPr lang="tr-TR" dirty="0"/>
              <a:t> Genellikle iyi huylu, </a:t>
            </a:r>
            <a:r>
              <a:rPr lang="tr-TR" dirty="0" err="1"/>
              <a:t>meninkslerden</a:t>
            </a:r>
            <a:r>
              <a:rPr lang="tr-TR" dirty="0"/>
              <a:t> kaynaklanan tümör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err="1"/>
              <a:t>Pituitary</a:t>
            </a:r>
            <a:r>
              <a:rPr lang="tr-TR" b="1" dirty="0"/>
              <a:t>:</a:t>
            </a:r>
            <a:r>
              <a:rPr lang="tr-TR" dirty="0"/>
              <a:t> Hipofiz bezinde oluşan tümörler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Normal (No </a:t>
            </a:r>
            <a:r>
              <a:rPr lang="tr-TR" b="1" dirty="0" err="1"/>
              <a:t>Tumor</a:t>
            </a:r>
            <a:r>
              <a:rPr lang="tr-TR" b="1" dirty="0"/>
              <a:t>):</a:t>
            </a:r>
            <a:r>
              <a:rPr lang="tr-TR" dirty="0"/>
              <a:t> Sağlıklı beyin MR görüntüleri</a:t>
            </a:r>
          </a:p>
          <a:p>
            <a:pPr>
              <a:buNone/>
            </a:pPr>
            <a:r>
              <a:rPr lang="tr-TR" dirty="0"/>
              <a:t>Her sınıf, klasör yapısı sayesinde </a:t>
            </a:r>
            <a:r>
              <a:rPr lang="tr-TR" b="1" dirty="0"/>
              <a:t>otomatik olarak etiketlenmiştir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29476" y="116632"/>
            <a:ext cx="5468283" cy="693881"/>
          </a:xfrm>
        </p:spPr>
        <p:txBody>
          <a:bodyPr rtlCol="0"/>
          <a:lstStyle/>
          <a:p>
            <a:pPr rtl="0"/>
            <a:r>
              <a:rPr lang="tr" dirty="0">
                <a:solidFill>
                  <a:schemeClr val="tx1">
                    <a:lumMod val="65000"/>
                  </a:schemeClr>
                </a:solidFill>
              </a:rPr>
              <a:t>Proje Veriseti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9A4C1CD7-92EC-6E2F-0FF5-497230A9E891}"/>
              </a:ext>
            </a:extLst>
          </p:cNvPr>
          <p:cNvSpPr txBox="1"/>
          <p:nvPr/>
        </p:nvSpPr>
        <p:spPr>
          <a:xfrm>
            <a:off x="981844" y="764024"/>
            <a:ext cx="546828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b="1" dirty="0"/>
              <a:t>Veri Bölme Mantığı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Train (Eğitim):</a:t>
            </a:r>
            <a:r>
              <a:rPr lang="tr-TR" dirty="0"/>
              <a:t> Modelin öğrenmesi için kullanılmıştır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 err="1"/>
              <a:t>Validation</a:t>
            </a:r>
            <a:r>
              <a:rPr lang="tr-TR" b="1" dirty="0"/>
              <a:t> (Doğrulama):</a:t>
            </a:r>
            <a:endParaRPr lang="tr-T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Eğitim sırasında model performansını izlemek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 err="1"/>
              <a:t>Overfitting’i</a:t>
            </a:r>
            <a:r>
              <a:rPr lang="tr-TR" dirty="0"/>
              <a:t> önlemek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b="1" dirty="0"/>
              <a:t>Test:</a:t>
            </a:r>
            <a:endParaRPr lang="tr-T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Eğitim tamamlandıktan sonra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dirty="0"/>
              <a:t>Modelin </a:t>
            </a:r>
            <a:r>
              <a:rPr lang="tr-TR" b="1" dirty="0"/>
              <a:t>gerçek performansını</a:t>
            </a:r>
            <a:r>
              <a:rPr lang="tr-TR" dirty="0"/>
              <a:t> ölçmek için kullanılmıştır</a:t>
            </a:r>
          </a:p>
          <a:p>
            <a:pPr>
              <a:buNone/>
            </a:pPr>
            <a:r>
              <a:rPr lang="tr-TR" dirty="0"/>
              <a:t>🎯 Bu ayrım, modelin </a:t>
            </a:r>
            <a:r>
              <a:rPr lang="tr-TR" b="1" dirty="0"/>
              <a:t>genellenebilirliğini</a:t>
            </a:r>
            <a:r>
              <a:rPr lang="tr-TR" dirty="0"/>
              <a:t> artırmak için yapılmıştır.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D0065375-3884-C3B1-C2E9-99C7047F95F3}"/>
              </a:ext>
            </a:extLst>
          </p:cNvPr>
          <p:cNvSpPr txBox="1"/>
          <p:nvPr/>
        </p:nvSpPr>
        <p:spPr>
          <a:xfrm>
            <a:off x="6742484" y="810513"/>
            <a:ext cx="511439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b="1" dirty="0"/>
              <a:t>Veri Setinin Proje Açısından Önemi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Gerçek MR görüntülerinden oluşmaktadır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Çok sınıflı bir problemdir (4 sınıf)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Tıbbi görüntü analizi için uygundur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dirty="0"/>
              <a:t>Transfer öğrenme yaklaşımıyla uyumludur</a:t>
            </a:r>
          </a:p>
          <a:p>
            <a:pPr>
              <a:buNone/>
            </a:pPr>
            <a:r>
              <a:rPr lang="tr-TR" dirty="0"/>
              <a:t>Bu yönleriyle veri seti, </a:t>
            </a:r>
            <a:r>
              <a:rPr lang="tr-TR" b="1" dirty="0"/>
              <a:t>ResNet-50 tabanlı derin öğrenme modelinin başarımını değerlendirmek için uygun ve güvenilir bir yapı sunmaktadır</a:t>
            </a:r>
            <a:r>
              <a:rPr lang="tr-TR" dirty="0"/>
              <a:t>.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AD8E0547-C52E-FA8C-781C-B16CD9851916}"/>
              </a:ext>
            </a:extLst>
          </p:cNvPr>
          <p:cNvSpPr txBox="1"/>
          <p:nvPr/>
        </p:nvSpPr>
        <p:spPr>
          <a:xfrm>
            <a:off x="333772" y="5657671"/>
            <a:ext cx="113790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“</a:t>
            </a:r>
            <a:r>
              <a:rPr lang="tr-TR" dirty="0" err="1"/>
              <a:t>Validation</a:t>
            </a:r>
            <a:r>
              <a:rPr lang="tr-TR" dirty="0"/>
              <a:t> verisi, eğitim sırasında modelin ezber yapıp yapmadığını kontrol etmek ve en uygun modeli seçmek için ayrı tutulmuştur. Test verisi ise yalnızca son performansı ölçmek için kullanılmıştır.”</a:t>
            </a:r>
          </a:p>
        </p:txBody>
      </p:sp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tin kutusu 5">
            <a:extLst>
              <a:ext uri="{FF2B5EF4-FFF2-40B4-BE49-F238E27FC236}">
                <a16:creationId xmlns:a16="http://schemas.microsoft.com/office/drawing/2014/main" id="{8DBF2739-A300-164F-31E3-AB9B19A745CC}"/>
              </a:ext>
            </a:extLst>
          </p:cNvPr>
          <p:cNvSpPr txBox="1"/>
          <p:nvPr/>
        </p:nvSpPr>
        <p:spPr>
          <a:xfrm>
            <a:off x="1125860" y="116632"/>
            <a:ext cx="42484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dirty="0">
                <a:solidFill>
                  <a:schemeClr val="tx1">
                    <a:lumMod val="65000"/>
                  </a:schemeClr>
                </a:solidFill>
              </a:rPr>
              <a:t>Kodun İşleyişi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9923B621-897C-083C-9F9D-07D91FE33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36" y="836712"/>
            <a:ext cx="5184576" cy="3672408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8594A050-C43B-338D-EC93-238AC2B5C5B3}"/>
              </a:ext>
            </a:extLst>
          </p:cNvPr>
          <p:cNvSpPr txBox="1"/>
          <p:nvPr/>
        </p:nvSpPr>
        <p:spPr>
          <a:xfrm>
            <a:off x="6238428" y="749372"/>
            <a:ext cx="6130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clear</a:t>
            </a:r>
            <a:r>
              <a:rPr lang="tr-TR" dirty="0"/>
              <a:t>; </a:t>
            </a:r>
            <a:r>
              <a:rPr lang="tr-TR" dirty="0" err="1"/>
              <a:t>clc</a:t>
            </a:r>
            <a:r>
              <a:rPr lang="tr-TR" dirty="0"/>
              <a:t>; </a:t>
            </a:r>
            <a:r>
              <a:rPr lang="tr-TR" dirty="0" err="1"/>
              <a:t>close</a:t>
            </a:r>
            <a:r>
              <a:rPr lang="tr-TR" dirty="0"/>
              <a:t> </a:t>
            </a:r>
            <a:r>
              <a:rPr lang="tr-TR" dirty="0" err="1"/>
              <a:t>all</a:t>
            </a:r>
            <a:r>
              <a:rPr lang="tr-TR" dirty="0"/>
              <a:t>;  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5F9B172E-0D6E-9405-F44D-34EFEAE1836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243602" y="1236392"/>
            <a:ext cx="550282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Önceki çalışmalardan kalan değişkenler ve grafikler temizlenir.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Programın çalışmaya başladığı kullanıcıya bildirilir.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1CB15432-D9D5-0879-0509-782994854510}"/>
              </a:ext>
            </a:extLst>
          </p:cNvPr>
          <p:cNvSpPr txBox="1"/>
          <p:nvPr/>
        </p:nvSpPr>
        <p:spPr>
          <a:xfrm>
            <a:off x="6238428" y="2313567"/>
            <a:ext cx="576763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trainFolder</a:t>
            </a:r>
            <a:r>
              <a:rPr lang="tr-TR" dirty="0"/>
              <a:t> = </a:t>
            </a:r>
            <a:r>
              <a:rPr lang="tr-TR" dirty="0" err="1"/>
              <a:t>fullfile</a:t>
            </a:r>
            <a:r>
              <a:rPr lang="tr-TR" dirty="0"/>
              <a:t>(</a:t>
            </a:r>
            <a:r>
              <a:rPr lang="tr-TR" dirty="0" err="1"/>
              <a:t>datasetPath</a:t>
            </a:r>
            <a:r>
              <a:rPr lang="tr-TR" dirty="0"/>
              <a:t>,'</a:t>
            </a:r>
            <a:r>
              <a:rPr lang="tr-TR" dirty="0" err="1"/>
              <a:t>train</a:t>
            </a:r>
            <a:r>
              <a:rPr lang="tr-TR" dirty="0"/>
              <a:t>');</a:t>
            </a:r>
          </a:p>
          <a:p>
            <a:r>
              <a:rPr lang="tr-TR" dirty="0" err="1"/>
              <a:t>valFolder</a:t>
            </a:r>
            <a:r>
              <a:rPr lang="tr-TR" dirty="0"/>
              <a:t>   = </a:t>
            </a:r>
            <a:r>
              <a:rPr lang="tr-TR" dirty="0" err="1"/>
              <a:t>fullfile</a:t>
            </a:r>
            <a:r>
              <a:rPr lang="tr-TR" dirty="0"/>
              <a:t>(</a:t>
            </a:r>
            <a:r>
              <a:rPr lang="tr-TR" dirty="0" err="1"/>
              <a:t>datasetPath</a:t>
            </a:r>
            <a:r>
              <a:rPr lang="tr-TR" dirty="0"/>
              <a:t>,'</a:t>
            </a:r>
            <a:r>
              <a:rPr lang="tr-TR" dirty="0" err="1"/>
              <a:t>valid</a:t>
            </a:r>
            <a:r>
              <a:rPr lang="tr-TR" dirty="0"/>
              <a:t>');</a:t>
            </a:r>
          </a:p>
          <a:p>
            <a:r>
              <a:rPr lang="tr-TR" dirty="0" err="1"/>
              <a:t>testFolder</a:t>
            </a:r>
            <a:r>
              <a:rPr lang="tr-TR" dirty="0"/>
              <a:t>  = </a:t>
            </a:r>
            <a:r>
              <a:rPr lang="tr-TR" dirty="0" err="1"/>
              <a:t>fullfile</a:t>
            </a:r>
            <a:r>
              <a:rPr lang="tr-TR" dirty="0"/>
              <a:t>(</a:t>
            </a:r>
            <a:r>
              <a:rPr lang="tr-TR" dirty="0" err="1"/>
              <a:t>datasetPath</a:t>
            </a:r>
            <a:r>
              <a:rPr lang="tr-TR" dirty="0"/>
              <a:t>,'test');</a:t>
            </a:r>
          </a:p>
          <a:p>
            <a:r>
              <a:rPr lang="tr-TR" dirty="0"/>
              <a:t>Veri setinin eğitim, doğrulama ve test klasörleri oluşturulur.</a:t>
            </a:r>
          </a:p>
          <a:p>
            <a:r>
              <a:rPr lang="tr-TR" dirty="0" err="1"/>
              <a:t>fullfile</a:t>
            </a:r>
            <a:r>
              <a:rPr lang="tr-TR" dirty="0"/>
              <a:t> komutu, işletim sistemine uygun klasör yolu oluşturur.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5F638F37-8E7B-BA23-39FF-EE0CC5B084E6}"/>
              </a:ext>
            </a:extLst>
          </p:cNvPr>
          <p:cNvSpPr txBox="1"/>
          <p:nvPr/>
        </p:nvSpPr>
        <p:spPr>
          <a:xfrm>
            <a:off x="6258004" y="1996280"/>
            <a:ext cx="5862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/>
              <a:t>---------------------------------------------------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7DBC2D14-7DDA-6EED-D261-C0C2600DC251}"/>
              </a:ext>
            </a:extLst>
          </p:cNvPr>
          <p:cNvSpPr txBox="1"/>
          <p:nvPr/>
        </p:nvSpPr>
        <p:spPr>
          <a:xfrm>
            <a:off x="693812" y="4991223"/>
            <a:ext cx="62001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“Bu bölümde veri seti yolları tanımlanmış, </a:t>
            </a:r>
            <a:r>
              <a:rPr lang="tr-TR" dirty="0" err="1"/>
              <a:t>train</a:t>
            </a:r>
            <a:r>
              <a:rPr lang="tr-TR" dirty="0"/>
              <a:t>–</a:t>
            </a:r>
            <a:r>
              <a:rPr lang="tr-TR" dirty="0" err="1"/>
              <a:t>validation</a:t>
            </a:r>
            <a:r>
              <a:rPr lang="tr-TR" dirty="0"/>
              <a:t>–test klasörleri kontrol edilerek model eğitimine hatasız bir şekilde başlanması sağlanmıştır.”</a:t>
            </a:r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şlık 6"/>
          <p:cNvSpPr>
            <a:spLocks noGrp="1"/>
          </p:cNvSpPr>
          <p:nvPr>
            <p:ph type="title"/>
          </p:nvPr>
        </p:nvSpPr>
        <p:spPr>
          <a:xfrm>
            <a:off x="1125860" y="260648"/>
            <a:ext cx="2875995" cy="634083"/>
          </a:xfrm>
        </p:spPr>
        <p:txBody>
          <a:bodyPr rtlCol="0"/>
          <a:lstStyle/>
          <a:p>
            <a:pPr rtl="0"/>
            <a:r>
              <a:rPr lang="tr" dirty="0">
                <a:solidFill>
                  <a:schemeClr val="tx1">
                    <a:lumMod val="65000"/>
                  </a:schemeClr>
                </a:solidFill>
              </a:rPr>
              <a:t>Kodun İşleyişi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57D2960A-F7B2-2D3C-B363-9A87B50B9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28" y="1340768"/>
            <a:ext cx="4968552" cy="338437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5DC81B4-5155-48ED-6F23-0C27F723525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310435" y="1461187"/>
            <a:ext cx="576064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imageDatastore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trainFolder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b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Train klasöründeki tüm görüntüleri okur.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IncludeSubfolders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b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glioma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meningioma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pituitary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Normal_no_tumor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gibi 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 klasörlerin içine girilmesini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sağlar.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LabelSource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','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foldernames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</a:t>
            </a:r>
            <a:b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Görüntülerin 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etiketlerini klasör adlarından otomatik üretir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C39F9FD5-729C-D656-9196-4954D9602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860" y="332656"/>
            <a:ext cx="6552728" cy="791915"/>
          </a:xfrm>
        </p:spPr>
        <p:txBody>
          <a:bodyPr/>
          <a:lstStyle/>
          <a:p>
            <a:r>
              <a:rPr lang="tr-TR" dirty="0">
                <a:solidFill>
                  <a:schemeClr val="tx1">
                    <a:lumMod val="65000"/>
                  </a:schemeClr>
                </a:solidFill>
              </a:rPr>
              <a:t>Kodun İşleyişi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9F5C6747-6F33-3562-CE92-4574E1263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36" y="1304764"/>
            <a:ext cx="4608512" cy="4248472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10B1CD9A-D3D0-333E-10CA-066CF9FE0C44}"/>
              </a:ext>
            </a:extLst>
          </p:cNvPr>
          <p:cNvSpPr txBox="1"/>
          <p:nvPr/>
        </p:nvSpPr>
        <p:spPr>
          <a:xfrm>
            <a:off x="5662364" y="1124571"/>
            <a:ext cx="61068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net = resnet50;</a:t>
            </a:r>
          </a:p>
          <a:p>
            <a:r>
              <a:rPr lang="tr-TR" dirty="0" err="1"/>
              <a:t>MATLAB’ın</a:t>
            </a:r>
            <a:r>
              <a:rPr lang="tr-TR" dirty="0"/>
              <a:t> hazır ResNet-50 modeli yüklenir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DCEB7A79-7EFA-B42E-B0E9-35A78B257B90}"/>
              </a:ext>
            </a:extLst>
          </p:cNvPr>
          <p:cNvSpPr txBox="1"/>
          <p:nvPr/>
        </p:nvSpPr>
        <p:spPr>
          <a:xfrm>
            <a:off x="5662364" y="1855445"/>
            <a:ext cx="61068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lgraph</a:t>
            </a:r>
            <a:r>
              <a:rPr lang="tr-TR" dirty="0"/>
              <a:t> = </a:t>
            </a:r>
            <a:r>
              <a:rPr lang="tr-TR" dirty="0" err="1"/>
              <a:t>layerGraph</a:t>
            </a:r>
            <a:r>
              <a:rPr lang="tr-TR" dirty="0"/>
              <a:t>(net);</a:t>
            </a:r>
          </a:p>
          <a:p>
            <a:r>
              <a:rPr lang="tr-TR" dirty="0"/>
              <a:t>ResNet-50 doğrudan düzenlenemez</a:t>
            </a:r>
          </a:p>
          <a:p>
            <a:r>
              <a:rPr lang="tr-TR" dirty="0" err="1"/>
              <a:t>layerGraph</a:t>
            </a:r>
            <a:r>
              <a:rPr lang="tr-TR" dirty="0"/>
              <a:t>:</a:t>
            </a:r>
          </a:p>
          <a:p>
            <a:r>
              <a:rPr lang="tr-TR" dirty="0"/>
              <a:t>Katmanları silip ekleyebilmemizi sağlar</a:t>
            </a:r>
          </a:p>
          <a:p>
            <a:r>
              <a:rPr lang="tr-TR" dirty="0"/>
              <a:t>Bu adım zorunludur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65A8E73B-B55F-0DE1-728A-9F42E41A3338}"/>
              </a:ext>
            </a:extLst>
          </p:cNvPr>
          <p:cNvSpPr txBox="1"/>
          <p:nvPr/>
        </p:nvSpPr>
        <p:spPr>
          <a:xfrm>
            <a:off x="5662364" y="3717032"/>
            <a:ext cx="61068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numClasses</a:t>
            </a:r>
            <a:r>
              <a:rPr lang="tr-TR" dirty="0"/>
              <a:t> = </a:t>
            </a:r>
            <a:r>
              <a:rPr lang="tr-TR" dirty="0" err="1"/>
              <a:t>numel</a:t>
            </a:r>
            <a:r>
              <a:rPr lang="tr-TR" dirty="0"/>
              <a:t>(</a:t>
            </a:r>
            <a:r>
              <a:rPr lang="tr-TR" dirty="0" err="1"/>
              <a:t>categories</a:t>
            </a:r>
            <a:r>
              <a:rPr lang="tr-TR" dirty="0"/>
              <a:t>(</a:t>
            </a:r>
            <a:r>
              <a:rPr lang="tr-TR" dirty="0" err="1"/>
              <a:t>imdsTrain.Labels</a:t>
            </a:r>
            <a:r>
              <a:rPr lang="tr-TR" dirty="0"/>
              <a:t>));</a:t>
            </a:r>
          </a:p>
          <a:p>
            <a:r>
              <a:rPr lang="tr-TR" dirty="0" err="1"/>
              <a:t>imdsTrain.Labels</a:t>
            </a:r>
            <a:r>
              <a:rPr lang="tr-TR" dirty="0"/>
              <a:t> → eğitim verisinin etiketleri</a:t>
            </a:r>
          </a:p>
          <a:p>
            <a:r>
              <a:rPr lang="tr-TR" dirty="0" err="1"/>
              <a:t>categories</a:t>
            </a:r>
            <a:r>
              <a:rPr lang="tr-TR" dirty="0"/>
              <a:t> → farklı sınıf isimleri</a:t>
            </a:r>
          </a:p>
          <a:p>
            <a:r>
              <a:rPr lang="tr-TR" dirty="0" err="1"/>
              <a:t>numel</a:t>
            </a:r>
            <a:r>
              <a:rPr lang="tr-TR" dirty="0"/>
              <a:t> → kaç tane sınıf var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Mürekkep 15">
                <a:extLst>
                  <a:ext uri="{FF2B5EF4-FFF2-40B4-BE49-F238E27FC236}">
                    <a16:creationId xmlns:a16="http://schemas.microsoft.com/office/drawing/2014/main" id="{4F46CCD5-E0BA-74D2-54A3-4793F7085DB1}"/>
                  </a:ext>
                </a:extLst>
              </p14:cNvPr>
              <p14:cNvContentPartPr/>
              <p14:nvPr/>
            </p14:nvContentPartPr>
            <p14:xfrm>
              <a:off x="2332528" y="363710"/>
              <a:ext cx="360" cy="360"/>
            </p14:xfrm>
          </p:contentPart>
        </mc:Choice>
        <mc:Fallback>
          <p:pic>
            <p:nvPicPr>
              <p:cNvPr id="16" name="Mürekkep 15">
                <a:extLst>
                  <a:ext uri="{FF2B5EF4-FFF2-40B4-BE49-F238E27FC236}">
                    <a16:creationId xmlns:a16="http://schemas.microsoft.com/office/drawing/2014/main" id="{4F46CCD5-E0BA-74D2-54A3-4793F7085D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6408" y="35759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EBFBD740-909F-24E4-1F42-E4C15E98F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28" y="1170384"/>
            <a:ext cx="4752528" cy="4274840"/>
          </a:xfrm>
          <a:prstGeom prst="rect">
            <a:avLst/>
          </a:prstGeom>
        </p:spPr>
      </p:pic>
      <p:cxnSp>
        <p:nvCxnSpPr>
          <p:cNvPr id="6" name="Düz Ok Bağlayıcısı 5">
            <a:extLst>
              <a:ext uri="{FF2B5EF4-FFF2-40B4-BE49-F238E27FC236}">
                <a16:creationId xmlns:a16="http://schemas.microsoft.com/office/drawing/2014/main" id="{B334468D-0CA2-290D-FA18-1573DD929C5A}"/>
              </a:ext>
            </a:extLst>
          </p:cNvPr>
          <p:cNvCxnSpPr/>
          <p:nvPr/>
        </p:nvCxnSpPr>
        <p:spPr>
          <a:xfrm>
            <a:off x="909836" y="2381842"/>
            <a:ext cx="914400" cy="9144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etin kutusu 6">
            <a:extLst>
              <a:ext uri="{FF2B5EF4-FFF2-40B4-BE49-F238E27FC236}">
                <a16:creationId xmlns:a16="http://schemas.microsoft.com/office/drawing/2014/main" id="{E97C1328-83EB-A7D3-FDA4-7193CF76CDCC}"/>
              </a:ext>
            </a:extLst>
          </p:cNvPr>
          <p:cNvSpPr txBox="1"/>
          <p:nvPr/>
        </p:nvSpPr>
        <p:spPr>
          <a:xfrm>
            <a:off x="837828" y="400463"/>
            <a:ext cx="3384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>
                <a:solidFill>
                  <a:schemeClr val="tx1">
                    <a:lumMod val="65000"/>
                  </a:schemeClr>
                </a:solidFill>
              </a:rPr>
              <a:t>Kodun İşleyişi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E685E61D-9EAF-DA11-1D66-7571840A452E}"/>
              </a:ext>
            </a:extLst>
          </p:cNvPr>
          <p:cNvSpPr txBox="1"/>
          <p:nvPr/>
        </p:nvSpPr>
        <p:spPr>
          <a:xfrm>
            <a:off x="5806380" y="1061035"/>
            <a:ext cx="507027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sz="2000" b="1" dirty="0"/>
              <a:t>🔹 </a:t>
            </a:r>
            <a:r>
              <a:rPr lang="tr-TR" sz="2000" b="1" dirty="0" err="1"/>
              <a:t>fullyConnectedLayer</a:t>
            </a:r>
            <a:endParaRPr lang="tr-TR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2000" dirty="0"/>
              <a:t>Çıkış nöron sayısı = </a:t>
            </a:r>
            <a:r>
              <a:rPr lang="tr-TR" sz="2000" b="1" dirty="0"/>
              <a:t>sınıf sayısı (4)</a:t>
            </a:r>
            <a:endParaRPr lang="tr-T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2000" dirty="0" err="1">
                <a:latin typeface="Courier New" panose="02070309020205020404" pitchFamily="49" charset="0"/>
              </a:rPr>
              <a:t>WeightLearnRateFactor</a:t>
            </a:r>
            <a:r>
              <a:rPr lang="tr-TR" sz="2000" dirty="0">
                <a:latin typeface="Courier New" panose="02070309020205020404" pitchFamily="49" charset="0"/>
              </a:rPr>
              <a:t> = 10</a:t>
            </a:r>
            <a:endParaRPr lang="tr-T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2000" dirty="0" err="1">
                <a:latin typeface="Courier New" panose="02070309020205020404" pitchFamily="49" charset="0"/>
              </a:rPr>
              <a:t>BiasLearnRateFactor</a:t>
            </a:r>
            <a:r>
              <a:rPr lang="tr-TR" sz="2000" dirty="0">
                <a:latin typeface="Courier New" panose="02070309020205020404" pitchFamily="49" charset="0"/>
              </a:rPr>
              <a:t> = 10</a:t>
            </a:r>
            <a:endParaRPr lang="tr-TR" sz="2000" dirty="0"/>
          </a:p>
          <a:p>
            <a:pPr>
              <a:buNone/>
            </a:pPr>
            <a:r>
              <a:rPr lang="tr-TR" sz="2000" dirty="0"/>
              <a:t>Anlamı:</a:t>
            </a:r>
          </a:p>
          <a:p>
            <a:pPr>
              <a:buNone/>
            </a:pPr>
            <a:r>
              <a:rPr lang="tr-TR" sz="2000" dirty="0"/>
              <a:t>Son katmanlar </a:t>
            </a:r>
            <a:r>
              <a:rPr lang="tr-TR" sz="2000" b="1" dirty="0"/>
              <a:t>daha hızlı öğrensin</a:t>
            </a:r>
            <a:r>
              <a:rPr lang="tr-TR" sz="2000" dirty="0"/>
              <a:t>,</a:t>
            </a:r>
            <a:br>
              <a:rPr lang="tr-TR" sz="2000" dirty="0"/>
            </a:br>
            <a:r>
              <a:rPr lang="tr-TR" sz="2000" dirty="0"/>
              <a:t>çünkü baştan eğitiliyorlar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BD57785D-FAC1-377E-160A-E28A6DA9DB06}"/>
              </a:ext>
            </a:extLst>
          </p:cNvPr>
          <p:cNvSpPr txBox="1"/>
          <p:nvPr/>
        </p:nvSpPr>
        <p:spPr>
          <a:xfrm>
            <a:off x="6238428" y="4475728"/>
            <a:ext cx="61068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sz="2000" dirty="0"/>
              <a:t>ResNet-50’nin </a:t>
            </a:r>
            <a:r>
              <a:rPr lang="tr-TR" sz="2000" b="1" dirty="0"/>
              <a:t>orijinal çıkışı</a:t>
            </a:r>
            <a:r>
              <a:rPr lang="tr-TR" sz="20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000" dirty="0">
                <a:latin typeface="Courier New" panose="02070309020205020404" pitchFamily="49" charset="0"/>
              </a:rPr>
              <a:t>fc1000</a:t>
            </a:r>
            <a:endParaRPr lang="tr-T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2000" dirty="0" err="1">
                <a:latin typeface="Courier New" panose="02070309020205020404" pitchFamily="49" charset="0"/>
              </a:rPr>
              <a:t>softmax</a:t>
            </a:r>
            <a:endParaRPr lang="tr-T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2000" dirty="0" err="1">
                <a:latin typeface="Courier New" panose="02070309020205020404" pitchFamily="49" charset="0"/>
              </a:rPr>
              <a:t>classificationLayer</a:t>
            </a:r>
            <a:endParaRPr lang="tr-TR" sz="2000" dirty="0">
              <a:latin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tr-TR" sz="2000" dirty="0"/>
              <a:t> Bunlar </a:t>
            </a:r>
            <a:r>
              <a:rPr lang="tr-TR" sz="2000" b="1" dirty="0"/>
              <a:t>1000 sınıf içindi</a:t>
            </a:r>
            <a:br>
              <a:rPr lang="tr-TR" sz="2000" dirty="0"/>
            </a:br>
            <a:r>
              <a:rPr lang="tr-TR" sz="2000" dirty="0"/>
              <a:t>Biz </a:t>
            </a:r>
            <a:r>
              <a:rPr lang="tr-TR" sz="2000" b="1" dirty="0"/>
              <a:t>4 sınıf</a:t>
            </a:r>
            <a:r>
              <a:rPr lang="tr-TR" sz="2000" dirty="0"/>
              <a:t> için yenileriyle değiştirdik</a:t>
            </a:r>
          </a:p>
        </p:txBody>
      </p:sp>
      <p:cxnSp>
        <p:nvCxnSpPr>
          <p:cNvPr id="13" name="Bağlayıcı: Dirsek 12">
            <a:extLst>
              <a:ext uri="{FF2B5EF4-FFF2-40B4-BE49-F238E27FC236}">
                <a16:creationId xmlns:a16="http://schemas.microsoft.com/office/drawing/2014/main" id="{C96E3FBF-F514-E69E-3F9C-B7FA40223445}"/>
              </a:ext>
            </a:extLst>
          </p:cNvPr>
          <p:cNvCxnSpPr/>
          <p:nvPr/>
        </p:nvCxnSpPr>
        <p:spPr>
          <a:xfrm>
            <a:off x="5199992" y="4545632"/>
            <a:ext cx="914400" cy="914400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>
            <a:extLst>
              <a:ext uri="{FF2B5EF4-FFF2-40B4-BE49-F238E27FC236}">
                <a16:creationId xmlns:a16="http://schemas.microsoft.com/office/drawing/2014/main" id="{7522B518-37FB-AB93-F454-AC5674376A30}"/>
              </a:ext>
            </a:extLst>
          </p:cNvPr>
          <p:cNvSpPr txBox="1"/>
          <p:nvPr/>
        </p:nvSpPr>
        <p:spPr>
          <a:xfrm>
            <a:off x="837828" y="260648"/>
            <a:ext cx="3425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>
                <a:solidFill>
                  <a:schemeClr val="tx1">
                    <a:lumMod val="65000"/>
                  </a:schemeClr>
                </a:solidFill>
              </a:rPr>
              <a:t>Kodun İşleyişi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92B7B5AF-C1FC-B796-D246-794EB08AF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47" y="908720"/>
            <a:ext cx="4435224" cy="4752528"/>
          </a:xfrm>
          <a:prstGeom prst="rect">
            <a:avLst/>
          </a:prstGeom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7851643D-C28B-F767-12C6-BF1D132659F8}"/>
              </a:ext>
            </a:extLst>
          </p:cNvPr>
          <p:cNvSpPr txBox="1"/>
          <p:nvPr/>
        </p:nvSpPr>
        <p:spPr>
          <a:xfrm>
            <a:off x="5518348" y="897766"/>
            <a:ext cx="674248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sz="1800" b="1" dirty="0" err="1">
                <a:latin typeface="Courier New" panose="02070309020205020404" pitchFamily="49" charset="0"/>
              </a:rPr>
              <a:t>imageDataAugmenter</a:t>
            </a:r>
            <a:endParaRPr lang="tr-TR" sz="1800" b="1" dirty="0"/>
          </a:p>
          <a:p>
            <a:pPr>
              <a:buNone/>
            </a:pPr>
            <a:r>
              <a:rPr lang="tr-TR" sz="1800" dirty="0"/>
              <a:t>Eğitim sırasında </a:t>
            </a:r>
            <a:r>
              <a:rPr lang="tr-TR" sz="1800" b="1" dirty="0"/>
              <a:t>rastgele</a:t>
            </a:r>
            <a:r>
              <a:rPr lang="tr-TR" sz="1800" dirty="0"/>
              <a:t> şu işlemleri yapar: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800" dirty="0">
                <a:latin typeface="Courier New" panose="02070309020205020404" pitchFamily="49" charset="0"/>
              </a:rPr>
              <a:t>'</a:t>
            </a:r>
            <a:r>
              <a:rPr lang="tr-TR" sz="1800" dirty="0" err="1">
                <a:latin typeface="Courier New" panose="02070309020205020404" pitchFamily="49" charset="0"/>
              </a:rPr>
              <a:t>RandXReflection</a:t>
            </a:r>
            <a:r>
              <a:rPr lang="tr-TR" sz="1800" dirty="0">
                <a:latin typeface="Courier New" panose="02070309020205020404" pitchFamily="49" charset="0"/>
              </a:rPr>
              <a:t>', </a:t>
            </a:r>
            <a:r>
              <a:rPr lang="tr-TR" sz="1800" dirty="0" err="1">
                <a:latin typeface="Courier New" panose="02070309020205020404" pitchFamily="49" charset="0"/>
              </a:rPr>
              <a:t>true</a:t>
            </a:r>
            <a:br>
              <a:rPr lang="tr-TR" sz="1800" dirty="0"/>
            </a:br>
            <a:r>
              <a:rPr lang="tr-TR" sz="1800" dirty="0"/>
              <a:t>→ Görüntüyü yatay çevirir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800" dirty="0">
                <a:latin typeface="Courier New" panose="02070309020205020404" pitchFamily="49" charset="0"/>
              </a:rPr>
              <a:t>'</a:t>
            </a:r>
            <a:r>
              <a:rPr lang="tr-TR" sz="1800" dirty="0" err="1">
                <a:latin typeface="Courier New" panose="02070309020205020404" pitchFamily="49" charset="0"/>
              </a:rPr>
              <a:t>RandRotation</a:t>
            </a:r>
            <a:r>
              <a:rPr lang="tr-TR" sz="1800" dirty="0">
                <a:latin typeface="Courier New" panose="02070309020205020404" pitchFamily="49" charset="0"/>
              </a:rPr>
              <a:t>', [-10 10]</a:t>
            </a:r>
            <a:br>
              <a:rPr lang="tr-TR" sz="1800" dirty="0"/>
            </a:br>
            <a:r>
              <a:rPr lang="tr-TR" sz="1800" dirty="0"/>
              <a:t>→ −10° ile +10° arası döndürür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800" dirty="0">
                <a:latin typeface="Courier New" panose="02070309020205020404" pitchFamily="49" charset="0"/>
              </a:rPr>
              <a:t>'</a:t>
            </a:r>
            <a:r>
              <a:rPr lang="tr-TR" sz="1800" dirty="0" err="1">
                <a:latin typeface="Courier New" panose="02070309020205020404" pitchFamily="49" charset="0"/>
              </a:rPr>
              <a:t>RandXTranslation</a:t>
            </a:r>
            <a:r>
              <a:rPr lang="tr-TR" sz="1800" dirty="0">
                <a:latin typeface="Courier New" panose="02070309020205020404" pitchFamily="49" charset="0"/>
              </a:rPr>
              <a:t>', </a:t>
            </a:r>
            <a:r>
              <a:rPr lang="tr-TR" sz="1800" dirty="0" err="1">
                <a:latin typeface="Courier New" panose="02070309020205020404" pitchFamily="49" charset="0"/>
              </a:rPr>
              <a:t>pixelRange</a:t>
            </a:r>
            <a:br>
              <a:rPr lang="tr-TR" sz="1800" dirty="0"/>
            </a:br>
            <a:r>
              <a:rPr lang="tr-TR" sz="1800" dirty="0"/>
              <a:t>→ Sağa–sola kaydırır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800" dirty="0">
                <a:latin typeface="Courier New" panose="02070309020205020404" pitchFamily="49" charset="0"/>
              </a:rPr>
              <a:t>'</a:t>
            </a:r>
            <a:r>
              <a:rPr lang="tr-TR" sz="1800" dirty="0" err="1">
                <a:latin typeface="Courier New" panose="02070309020205020404" pitchFamily="49" charset="0"/>
              </a:rPr>
              <a:t>RandYTranslation</a:t>
            </a:r>
            <a:r>
              <a:rPr lang="tr-TR" sz="1800" dirty="0">
                <a:latin typeface="Courier New" panose="02070309020205020404" pitchFamily="49" charset="0"/>
              </a:rPr>
              <a:t>', </a:t>
            </a:r>
            <a:r>
              <a:rPr lang="tr-TR" sz="1800" dirty="0" err="1">
                <a:latin typeface="Courier New" panose="02070309020205020404" pitchFamily="49" charset="0"/>
              </a:rPr>
              <a:t>pixelRange</a:t>
            </a:r>
            <a:br>
              <a:rPr lang="tr-TR" sz="1800" dirty="0"/>
            </a:br>
            <a:r>
              <a:rPr lang="tr-TR" sz="1800" dirty="0"/>
              <a:t>→ Yukarı–aşağı kaydırır</a:t>
            </a:r>
          </a:p>
          <a:p>
            <a:pPr>
              <a:buNone/>
            </a:pPr>
            <a:r>
              <a:rPr lang="tr-TR" sz="1800" b="1" dirty="0"/>
              <a:t>Her </a:t>
            </a:r>
            <a:r>
              <a:rPr lang="tr-TR" sz="1800" b="1" dirty="0" err="1"/>
              <a:t>epoch’ta</a:t>
            </a:r>
            <a:r>
              <a:rPr lang="tr-TR" sz="1800" b="1" dirty="0"/>
              <a:t> farklı görüntüler oluşur</a:t>
            </a:r>
            <a:br>
              <a:rPr lang="tr-TR" sz="1800" dirty="0"/>
            </a:br>
            <a:r>
              <a:rPr lang="tr-TR" sz="1800" dirty="0"/>
              <a:t>Bu da modeli ezberden kurtarır.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5A06C677-FC03-67DF-5AE3-86E895167E88}"/>
              </a:ext>
            </a:extLst>
          </p:cNvPr>
          <p:cNvSpPr txBox="1"/>
          <p:nvPr/>
        </p:nvSpPr>
        <p:spPr>
          <a:xfrm>
            <a:off x="5446340" y="4437112"/>
            <a:ext cx="573072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b="1" dirty="0"/>
              <a:t> </a:t>
            </a:r>
            <a:r>
              <a:rPr lang="tr-TR" sz="1800" b="1" dirty="0">
                <a:latin typeface="Courier New" panose="02070309020205020404" pitchFamily="49" charset="0"/>
              </a:rPr>
              <a:t>'ColorPreprocessing','gray2rgb'</a:t>
            </a:r>
            <a:endParaRPr lang="tr-TR" sz="1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1800" dirty="0"/>
              <a:t>MR görüntüleri </a:t>
            </a:r>
            <a:r>
              <a:rPr lang="tr-TR" sz="1800" b="1" dirty="0"/>
              <a:t>tek kanallıdır (</a:t>
            </a:r>
            <a:r>
              <a:rPr lang="tr-TR" sz="1800" b="1" dirty="0" err="1"/>
              <a:t>grayscale</a:t>
            </a:r>
            <a:r>
              <a:rPr lang="tr-TR" sz="1800" b="1" dirty="0"/>
              <a:t>)</a:t>
            </a:r>
            <a:endParaRPr lang="tr-T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1800" dirty="0"/>
              <a:t>ResNet-50 </a:t>
            </a:r>
            <a:r>
              <a:rPr lang="tr-TR" sz="1800" b="1" dirty="0"/>
              <a:t>3 kanallı RGB</a:t>
            </a:r>
            <a:r>
              <a:rPr lang="tr-TR" sz="1800" dirty="0"/>
              <a:t> bekler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800" dirty="0"/>
              <a:t>Bu komut: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800" dirty="0"/>
              <a:t>Gri görüntüyü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800" dirty="0"/>
              <a:t>3 kanala </a:t>
            </a:r>
            <a:r>
              <a:rPr lang="tr-TR" sz="1800" b="1" dirty="0"/>
              <a:t>kopyalayarak</a:t>
            </a:r>
            <a:endParaRPr lang="tr-TR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tr-TR" sz="1800" dirty="0"/>
              <a:t>RGB formatına dönüştürür</a:t>
            </a:r>
          </a:p>
        </p:txBody>
      </p:sp>
    </p:spTree>
    <p:extLst>
      <p:ext uri="{BB962C8B-B14F-4D97-AF65-F5344CB8AC3E}">
        <p14:creationId xmlns:p14="http://schemas.microsoft.com/office/powerpoint/2010/main" val="231904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Resim 9">
            <a:extLst>
              <a:ext uri="{FF2B5EF4-FFF2-40B4-BE49-F238E27FC236}">
                <a16:creationId xmlns:a16="http://schemas.microsoft.com/office/drawing/2014/main" id="{94C98FBC-4B22-64BF-3B05-D7B9D4E70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27" y="1412776"/>
            <a:ext cx="3816425" cy="3240360"/>
          </a:xfrm>
          <a:prstGeom prst="rect">
            <a:avLst/>
          </a:prstGeom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18203E21-B80D-5B47-2328-106ED5280265}"/>
              </a:ext>
            </a:extLst>
          </p:cNvPr>
          <p:cNvSpPr txBox="1"/>
          <p:nvPr/>
        </p:nvSpPr>
        <p:spPr>
          <a:xfrm>
            <a:off x="987625" y="404664"/>
            <a:ext cx="3048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solidFill>
                  <a:schemeClr val="tx1">
                    <a:lumMod val="65000"/>
                  </a:schemeClr>
                </a:solidFill>
              </a:rPr>
              <a:t>Kodun İşleyişi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BA8BE8E8-B654-4B54-F06E-6261D98C671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870276" y="1412776"/>
            <a:ext cx="698477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MiniBatchsize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her adımda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64 görüntü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görerek ağırlıkları günceller.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B6CEE8F4-8B18-4ACA-0AB2-92469F8C0BF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870176" y="2420888"/>
            <a:ext cx="573437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ValidationFrequency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her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65 iterasyonda bir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performansını ölçer.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Çok sık olursa eğitim yavaşlar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Çok seyrek olursa takip zorlaşır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8C86B4C9-75B1-96EA-DD3C-258B2C4C2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76" y="4149080"/>
            <a:ext cx="475252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Verbose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Komut penceresine gereksiz uzun çıktılar basılmaz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Daha temiz bir çalışma sağlar</a:t>
            </a:r>
          </a:p>
        </p:txBody>
      </p:sp>
    </p:spTree>
    <p:extLst>
      <p:ext uri="{BB962C8B-B14F-4D97-AF65-F5344CB8AC3E}">
        <p14:creationId xmlns:p14="http://schemas.microsoft.com/office/powerpoint/2010/main" val="348033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3D16CA62-10B3-EF68-390F-D1CB18C3C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95" y="836712"/>
            <a:ext cx="4099915" cy="3096344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7BAC130D-AAFE-8D90-5129-9AB34AAE5BE7}"/>
              </a:ext>
            </a:extLst>
          </p:cNvPr>
          <p:cNvSpPr txBox="1"/>
          <p:nvPr/>
        </p:nvSpPr>
        <p:spPr>
          <a:xfrm>
            <a:off x="943103" y="116632"/>
            <a:ext cx="3204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>
                <a:solidFill>
                  <a:schemeClr val="tx1">
                    <a:lumMod val="65000"/>
                  </a:schemeClr>
                </a:solidFill>
              </a:rPr>
              <a:t>Kodun İşleyişi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3239BB4B-0D62-B621-5D72-75CCA4CB0511}"/>
              </a:ext>
            </a:extLst>
          </p:cNvPr>
          <p:cNvSpPr txBox="1"/>
          <p:nvPr/>
        </p:nvSpPr>
        <p:spPr>
          <a:xfrm>
            <a:off x="5307655" y="466317"/>
            <a:ext cx="40999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600" dirty="0" err="1">
                <a:latin typeface="Courier New" panose="02070309020205020404" pitchFamily="49" charset="0"/>
              </a:rPr>
              <a:t>augTrain</a:t>
            </a:r>
            <a:br>
              <a:rPr lang="tr-TR" sz="1600" dirty="0"/>
            </a:br>
            <a:r>
              <a:rPr lang="tr-TR" sz="1600" dirty="0"/>
              <a:t>→ Ön işleme + </a:t>
            </a:r>
            <a:r>
              <a:rPr lang="tr-TR" sz="1600" dirty="0" err="1"/>
              <a:t>augmentation</a:t>
            </a:r>
            <a:r>
              <a:rPr lang="tr-TR" sz="1600" dirty="0"/>
              <a:t> uygulanmış </a:t>
            </a:r>
            <a:r>
              <a:rPr lang="tr-TR" sz="1600" b="1" dirty="0"/>
              <a:t>eğitim verisi</a:t>
            </a:r>
            <a:endParaRPr lang="tr-TR" sz="1600" dirty="0"/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8FCFB5C8-0C58-CDB6-D306-0F98D01D278F}"/>
              </a:ext>
            </a:extLst>
          </p:cNvPr>
          <p:cNvSpPr txBox="1"/>
          <p:nvPr/>
        </p:nvSpPr>
        <p:spPr>
          <a:xfrm>
            <a:off x="5234070" y="1287924"/>
            <a:ext cx="3960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600" dirty="0" err="1">
                <a:latin typeface="Courier New" panose="02070309020205020404" pitchFamily="49" charset="0"/>
              </a:rPr>
              <a:t>lgraph</a:t>
            </a:r>
            <a:br>
              <a:rPr lang="tr-TR" sz="1600" dirty="0"/>
            </a:br>
            <a:r>
              <a:rPr lang="tr-TR" sz="1600" dirty="0"/>
              <a:t>→ Son katmanları güncellenmiş </a:t>
            </a:r>
            <a:r>
              <a:rPr lang="tr-TR" sz="1600" b="1" dirty="0"/>
              <a:t>ResNet-50 mimarisi</a:t>
            </a:r>
            <a:endParaRPr lang="tr-TR" sz="1600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3C409CD9-FA87-3DCA-6EA8-9E65FA82A876}"/>
              </a:ext>
            </a:extLst>
          </p:cNvPr>
          <p:cNvSpPr txBox="1"/>
          <p:nvPr/>
        </p:nvSpPr>
        <p:spPr>
          <a:xfrm>
            <a:off x="5230316" y="2060848"/>
            <a:ext cx="23042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sz="1600" dirty="0" err="1">
                <a:latin typeface="Courier New" panose="02070309020205020404" pitchFamily="49" charset="0"/>
              </a:rPr>
              <a:t>options</a:t>
            </a:r>
            <a:br>
              <a:rPr lang="tr-TR" sz="1600" dirty="0"/>
            </a:br>
            <a:r>
              <a:rPr lang="tr-TR" sz="1600" dirty="0"/>
              <a:t>→ Az önce tanımladığın: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600" dirty="0" err="1"/>
              <a:t>optimizer</a:t>
            </a:r>
            <a:endParaRPr lang="tr-T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1600" dirty="0" err="1"/>
              <a:t>epoch</a:t>
            </a:r>
            <a:endParaRPr lang="tr-TR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1600" dirty="0" err="1"/>
              <a:t>batch</a:t>
            </a:r>
            <a:r>
              <a:rPr lang="tr-TR" sz="1600" dirty="0"/>
              <a:t> size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600" dirty="0" err="1"/>
              <a:t>learning</a:t>
            </a:r>
            <a:r>
              <a:rPr lang="tr-TR" sz="1600" dirty="0"/>
              <a:t>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600" dirty="0" err="1"/>
              <a:t>validation</a:t>
            </a:r>
            <a:r>
              <a:rPr lang="tr-TR" sz="1600" dirty="0"/>
              <a:t> ayarları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843ACEBA-13A5-8AA1-9743-478D59657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4332" y="4011077"/>
            <a:ext cx="4574779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Eğitilmiş model (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netTransfer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tr-TR" altLang="tr-T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Daha önce hiç görmediği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 görüntülerini alır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 görüntü için: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Tahmin edilen sınıf etiketini üretir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6" name="Bağlayıcı: Dirsek 15">
            <a:extLst>
              <a:ext uri="{FF2B5EF4-FFF2-40B4-BE49-F238E27FC236}">
                <a16:creationId xmlns:a16="http://schemas.microsoft.com/office/drawing/2014/main" id="{5DC73FB3-EB86-2B52-6912-8653A00275F3}"/>
              </a:ext>
            </a:extLst>
          </p:cNvPr>
          <p:cNvCxnSpPr>
            <a:cxnSpLocks/>
          </p:cNvCxnSpPr>
          <p:nvPr/>
        </p:nvCxnSpPr>
        <p:spPr>
          <a:xfrm>
            <a:off x="3986364" y="2814992"/>
            <a:ext cx="1315960" cy="1314924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">
            <a:extLst>
              <a:ext uri="{FF2B5EF4-FFF2-40B4-BE49-F238E27FC236}">
                <a16:creationId xmlns:a16="http://schemas.microsoft.com/office/drawing/2014/main" id="{94BA9396-A681-9D87-9DC1-FD5C1E17818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09280" y="4642018"/>
            <a:ext cx="367240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verisinin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gerçek sınıf etiketleri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Klasör isimlerinden otomatik gelmiştir</a:t>
            </a:r>
          </a:p>
        </p:txBody>
      </p:sp>
      <p:cxnSp>
        <p:nvCxnSpPr>
          <p:cNvPr id="31" name="Bağlayıcı: Dirsek 30">
            <a:extLst>
              <a:ext uri="{FF2B5EF4-FFF2-40B4-BE49-F238E27FC236}">
                <a16:creationId xmlns:a16="http://schemas.microsoft.com/office/drawing/2014/main" id="{6AFDEA2C-45ED-3FFB-B469-675A1B989CA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29797" y="3715327"/>
            <a:ext cx="1612814" cy="219472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16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C845023B-BA40-B410-389C-F0D03F42E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28" y="1268760"/>
            <a:ext cx="4824536" cy="3600400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7A0EA80A-AB2B-6FFF-700F-2C76CA14C8CE}"/>
              </a:ext>
            </a:extLst>
          </p:cNvPr>
          <p:cNvSpPr txBox="1"/>
          <p:nvPr/>
        </p:nvSpPr>
        <p:spPr>
          <a:xfrm>
            <a:off x="981844" y="260648"/>
            <a:ext cx="3960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>
                <a:solidFill>
                  <a:schemeClr val="tx1">
                    <a:lumMod val="65000"/>
                  </a:schemeClr>
                </a:solidFill>
              </a:rPr>
              <a:t>Kodun İşleyişi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636DF4A8-8A22-EDDD-6218-858210281EE0}"/>
              </a:ext>
            </a:extLst>
          </p:cNvPr>
          <p:cNvSpPr txBox="1"/>
          <p:nvPr/>
        </p:nvSpPr>
        <p:spPr>
          <a:xfrm>
            <a:off x="5950396" y="1124744"/>
            <a:ext cx="555323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sz="1800" dirty="0" err="1">
                <a:latin typeface="Courier New" panose="02070309020205020404" pitchFamily="49" charset="0"/>
              </a:rPr>
              <a:t>trueLabels</a:t>
            </a:r>
            <a:r>
              <a:rPr lang="tr-TR" sz="1800" dirty="0"/>
              <a:t> → gerçek sınıflar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800" dirty="0" err="1">
                <a:latin typeface="Courier New" panose="02070309020205020404" pitchFamily="49" charset="0"/>
              </a:rPr>
              <a:t>predLabels</a:t>
            </a:r>
            <a:r>
              <a:rPr lang="tr-TR" sz="1800" dirty="0"/>
              <a:t> → modelin tahmin ettiği sınıflar</a:t>
            </a:r>
          </a:p>
          <a:p>
            <a:pPr>
              <a:buNone/>
            </a:pPr>
            <a:r>
              <a:rPr lang="tr-TR" sz="1800" dirty="0"/>
              <a:t>MATLAB otomatik olarak: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800" dirty="0"/>
              <a:t>Satırlar → </a:t>
            </a:r>
            <a:r>
              <a:rPr lang="tr-TR" sz="1800" b="1" dirty="0"/>
              <a:t>gerçek sınıflar</a:t>
            </a:r>
            <a:endParaRPr lang="tr-T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1800" dirty="0"/>
              <a:t>Sütunlar → </a:t>
            </a:r>
            <a:r>
              <a:rPr lang="tr-TR" sz="1800" b="1" dirty="0"/>
              <a:t>tahmin edilen sınıflar</a:t>
            </a:r>
            <a:br>
              <a:rPr lang="tr-TR" sz="1800" dirty="0"/>
            </a:br>
            <a:r>
              <a:rPr lang="tr-TR" sz="1800" dirty="0"/>
              <a:t>şeklinde bir matris oluşturur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85D50F6-9E37-0052-5992-96F84EC1E71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878388" y="2879070"/>
            <a:ext cx="482453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 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gerçek sınıfın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yüzde kaç oranla doğru/yanlış sınıflandırıldığını gösterir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385A8790-E62C-FBB8-1143-0A18786320CB}"/>
              </a:ext>
            </a:extLst>
          </p:cNvPr>
          <p:cNvSpPr txBox="1"/>
          <p:nvPr/>
        </p:nvSpPr>
        <p:spPr>
          <a:xfrm>
            <a:off x="5878388" y="3807243"/>
            <a:ext cx="49685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tr-TR" sz="1800" dirty="0"/>
              <a:t>Bir sınıfa yapılan tahminlerin: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800" dirty="0"/>
              <a:t>ne kadarının doğru olduğunu gösterir</a:t>
            </a:r>
          </a:p>
        </p:txBody>
      </p:sp>
    </p:spTree>
    <p:extLst>
      <p:ext uri="{BB962C8B-B14F-4D97-AF65-F5344CB8AC3E}">
        <p14:creationId xmlns:p14="http://schemas.microsoft.com/office/powerpoint/2010/main" val="2789453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>
            <a:extLst>
              <a:ext uri="{FF2B5EF4-FFF2-40B4-BE49-F238E27FC236}">
                <a16:creationId xmlns:a16="http://schemas.microsoft.com/office/drawing/2014/main" id="{7DD11180-1A6F-8BDF-11E1-74C8241A40D7}"/>
              </a:ext>
            </a:extLst>
          </p:cNvPr>
          <p:cNvSpPr txBox="1"/>
          <p:nvPr/>
        </p:nvSpPr>
        <p:spPr>
          <a:xfrm>
            <a:off x="1053852" y="40466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dirty="0">
                <a:solidFill>
                  <a:schemeClr val="tx1">
                    <a:lumMod val="65000"/>
                  </a:schemeClr>
                </a:solidFill>
              </a:rPr>
              <a:t>Karmaşıklık Matrisi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C79F38DA-57B9-E4E9-91B3-AF4C871C7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932" y="1574052"/>
            <a:ext cx="7704856" cy="485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05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47D2103C-AD5A-D06A-0567-FAD766882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36" y="314653"/>
            <a:ext cx="7200800" cy="4167451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C5C57152-143C-FDAE-9D14-51619F761393}"/>
              </a:ext>
            </a:extLst>
          </p:cNvPr>
          <p:cNvSpPr txBox="1"/>
          <p:nvPr/>
        </p:nvSpPr>
        <p:spPr>
          <a:xfrm>
            <a:off x="1269876" y="5157192"/>
            <a:ext cx="49685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/>
              <a:t>Test </a:t>
            </a:r>
            <a:r>
              <a:rPr lang="tr-TR" sz="2800" dirty="0" err="1"/>
              <a:t>Accuracy</a:t>
            </a:r>
            <a:r>
              <a:rPr lang="tr-TR" sz="2800" dirty="0"/>
              <a:t>: 97.62%</a:t>
            </a:r>
          </a:p>
          <a:p>
            <a:r>
              <a:rPr lang="tr-TR" sz="2800" dirty="0" err="1"/>
              <a:t>Validation</a:t>
            </a:r>
            <a:r>
              <a:rPr lang="tr-TR" sz="2800" dirty="0"/>
              <a:t> Accuracy:97.90%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4C97780F-88BA-413F-D61B-11E988AED315}"/>
              </a:ext>
            </a:extLst>
          </p:cNvPr>
          <p:cNvSpPr txBox="1"/>
          <p:nvPr/>
        </p:nvSpPr>
        <p:spPr>
          <a:xfrm>
            <a:off x="8180415" y="844106"/>
            <a:ext cx="403244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/>
              <a:t>Model, test verisi üzerinde %97.62 doğruluk elde etmiştir. </a:t>
            </a:r>
            <a:r>
              <a:rPr lang="tr-TR" sz="2800" dirty="0" err="1"/>
              <a:t>Confusion</a:t>
            </a:r>
            <a:r>
              <a:rPr lang="tr-TR" sz="2800" dirty="0"/>
              <a:t> </a:t>
            </a:r>
            <a:r>
              <a:rPr lang="tr-TR" sz="2800" dirty="0" err="1"/>
              <a:t>matrix</a:t>
            </a:r>
            <a:r>
              <a:rPr lang="tr-TR" sz="2800" dirty="0"/>
              <a:t> incelendiğinde sınıflar arasında dengeli ve tutarlı bir performans gözlemlenmiştir. </a:t>
            </a:r>
          </a:p>
        </p:txBody>
      </p:sp>
    </p:spTree>
    <p:extLst>
      <p:ext uri="{BB962C8B-B14F-4D97-AF65-F5344CB8AC3E}">
        <p14:creationId xmlns:p14="http://schemas.microsoft.com/office/powerpoint/2010/main" val="2715931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knik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eması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eması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d0c0874-3251-4613-978d-6fb5c48ec9a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D742CA429053EF4EB406615760A2C7DC" ma:contentTypeVersion="5" ma:contentTypeDescription="Yeni belge oluşturun." ma:contentTypeScope="" ma:versionID="a4f5e01f0468f411d8a19a5e0b87c22c">
  <xsd:schema xmlns:xsd="http://www.w3.org/2001/XMLSchema" xmlns:xs="http://www.w3.org/2001/XMLSchema" xmlns:p="http://schemas.microsoft.com/office/2006/metadata/properties" xmlns:ns3="ed0c0874-3251-4613-978d-6fb5c48ec9ac" targetNamespace="http://schemas.microsoft.com/office/2006/metadata/properties" ma:root="true" ma:fieldsID="c0db71fa13b1922b62a0b0fce0fc3309" ns3:_="">
    <xsd:import namespace="ed0c0874-3251-4613-978d-6fb5c48ec9a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_activity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0c0874-3251-4613-978d-6fb5c48ec9a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http://purl.org/dc/dcmitype/"/>
    <ds:schemaRef ds:uri="http://schemas.microsoft.com/office/2006/metadata/properties"/>
    <ds:schemaRef ds:uri="ed0c0874-3251-4613-978d-6fb5c48ec9ac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E0E8C031-FC20-42DA-A441-A2FBB68383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0c0874-3251-4613-978d-6fb5c48ec9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688B880-F04C-40CA-A37E-4B808EBE267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Üçlü devre hatları sunusu (geniş ekran)</Template>
  <TotalTime>126</TotalTime>
  <Words>911</Words>
  <Application>Microsoft Office PowerPoint</Application>
  <PresentationFormat>Özel</PresentationFormat>
  <Paragraphs>145</Paragraphs>
  <Slides>15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20" baseType="lpstr">
      <vt:lpstr>Arial</vt:lpstr>
      <vt:lpstr>Arial Unicode MS</vt:lpstr>
      <vt:lpstr>Calibri</vt:lpstr>
      <vt:lpstr>Courier New</vt:lpstr>
      <vt:lpstr>Teknik 16x9</vt:lpstr>
      <vt:lpstr>Derin Öğrenme Yöntemleri Kullanılarak Beyin Tümörü MR   Görüntülerinin Analizi ve Sınıflandırılması </vt:lpstr>
      <vt:lpstr>Projenin Amacı</vt:lpstr>
      <vt:lpstr>Projenin Genel İşleyişi</vt:lpstr>
      <vt:lpstr>Proje Veriseti</vt:lpstr>
      <vt:lpstr>Proje Veriseti</vt:lpstr>
      <vt:lpstr>PowerPoint Sunusu</vt:lpstr>
      <vt:lpstr>Kodun İşleyişi</vt:lpstr>
      <vt:lpstr>Kodun İşleyişi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muhammet ozeler</dc:creator>
  <cp:lastModifiedBy>muhammet ozeler</cp:lastModifiedBy>
  <cp:revision>2</cp:revision>
  <dcterms:created xsi:type="dcterms:W3CDTF">2025-12-15T11:44:25Z</dcterms:created>
  <dcterms:modified xsi:type="dcterms:W3CDTF">2025-12-15T13:51:05Z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0x010100D742CA429053EF4EB406615760A2C7DC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